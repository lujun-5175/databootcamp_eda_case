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Average"/>
      <p:regular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verag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54a16e37e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54a16e37e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54a16e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54a16e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54a16e37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54a16e37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54a16e3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54a16e3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54a16e37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54a16e37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4a16e3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54a16e3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54a16e37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54a16e37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4a16e37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54a16e3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54a16e37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54a16e37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4a16e37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4a16e37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54a16e37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54a16e37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54a16e3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54a16e3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4a16e37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54a16e37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54a16e3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54a16e3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54a16e37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54a16e37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54a16e37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54a16e37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54a16e37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54a16e37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54a16e3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54a16e3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4a16e37e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54a16e37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54a16e37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54a16e37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55ad168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55ad16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of Loan Default Risk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Lujun Lyu &amp; Brooke Stealey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4294967295" type="ctrTitle"/>
          </p:nvPr>
        </p:nvSpPr>
        <p:spPr>
          <a:xfrm>
            <a:off x="61500" y="2145300"/>
            <a:ext cx="90210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Section 1 — Business &amp; Problem Understanding</a:t>
            </a:r>
            <a:endParaRPr sz="39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5546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91925" y="997988"/>
            <a:ext cx="85206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895">
                <a:solidFill>
                  <a:schemeClr val="dk1"/>
                </a:solidFill>
              </a:rPr>
              <a:t>Goal</a:t>
            </a:r>
            <a:r>
              <a:rPr lang="en" sz="1895">
                <a:solidFill>
                  <a:schemeClr val="dk1"/>
                </a:solidFill>
              </a:rPr>
              <a:t>: Identify repayment patterns among clients</a:t>
            </a:r>
            <a:endParaRPr sz="18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895">
                <a:solidFill>
                  <a:schemeClr val="dk1"/>
                </a:solidFill>
              </a:rPr>
              <a:t>Data Sources</a:t>
            </a:r>
            <a:r>
              <a:rPr lang="en" sz="1895">
                <a:solidFill>
                  <a:schemeClr val="dk1"/>
                </a:solidFill>
              </a:rPr>
              <a:t>: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application_data.csv (current application information)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previous_application.csv ( loan history)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columns_description.xlsx (data dictionary)</a:t>
            </a:r>
            <a:endParaRPr sz="18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895">
                <a:solidFill>
                  <a:schemeClr val="dk1"/>
                </a:solidFill>
              </a:rPr>
              <a:t>Focus</a:t>
            </a:r>
            <a:r>
              <a:rPr lang="en" sz="1895">
                <a:solidFill>
                  <a:schemeClr val="dk1"/>
                </a:solidFill>
              </a:rPr>
              <a:t>: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Applicant demographics 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Asset ownership &amp; housing 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Loan amount &amp; income distributions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Credit bureau request behavior 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Previous application history</a:t>
            </a:r>
            <a:endParaRPr sz="1895">
              <a:solidFill>
                <a:schemeClr val="dk1"/>
              </a:solidFill>
            </a:endParaRPr>
          </a:p>
          <a:p>
            <a:pPr indent="-3489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Default rate </a:t>
            </a:r>
            <a:endParaRPr sz="18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3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4294967295" type="ctrTitle"/>
          </p:nvPr>
        </p:nvSpPr>
        <p:spPr>
          <a:xfrm>
            <a:off x="1148850" y="2142000"/>
            <a:ext cx="6846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Section 2 — Data Understanding 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2 - Shape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0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First Steps</a:t>
            </a:r>
            <a:r>
              <a:rPr lang="en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Loaded the three datasets into the notebook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Confirmed their number of rows and columns 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Checked </a:t>
            </a:r>
            <a:r>
              <a:rPr lang="en" sz="2100">
                <a:solidFill>
                  <a:schemeClr val="dk1"/>
                </a:solidFill>
              </a:rPr>
              <a:t>variable</a:t>
            </a:r>
            <a:r>
              <a:rPr lang="en" sz="2100">
                <a:solidFill>
                  <a:schemeClr val="dk1"/>
                </a:solidFill>
              </a:rPr>
              <a:t> types (numerical vs </a:t>
            </a:r>
            <a:r>
              <a:rPr lang="en" sz="2100">
                <a:solidFill>
                  <a:schemeClr val="dk1"/>
                </a:solidFill>
              </a:rPr>
              <a:t>categorical</a:t>
            </a:r>
            <a:r>
              <a:rPr lang="en" sz="2100">
                <a:solidFill>
                  <a:schemeClr val="dk1"/>
                </a:solidFill>
              </a:rPr>
              <a:t>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Looked at functions .head(), .info(), and .describe() to see the shape/any patterns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34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2 - application_data.info()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3076190"/>
            <a:ext cx="8520600" cy="16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5">
                <a:solidFill>
                  <a:schemeClr val="dk1"/>
                </a:solidFill>
              </a:rPr>
              <a:t>What this text shows</a:t>
            </a:r>
            <a:r>
              <a:rPr lang="en" sz="3655">
                <a:solidFill>
                  <a:schemeClr val="dk1"/>
                </a:solidFill>
              </a:rPr>
              <a:t>:</a:t>
            </a:r>
            <a:endParaRPr sz="3655">
              <a:solidFill>
                <a:schemeClr val="dk1"/>
              </a:solidFill>
            </a:endParaRPr>
          </a:p>
          <a:p>
            <a:pPr indent="-33884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55">
                <a:solidFill>
                  <a:schemeClr val="dk1"/>
                </a:solidFill>
              </a:rPr>
              <a:t>The application data set contains 307,511 rows and 122 columns </a:t>
            </a:r>
            <a:endParaRPr sz="3655">
              <a:solidFill>
                <a:schemeClr val="dk1"/>
              </a:solidFill>
            </a:endParaRPr>
          </a:p>
          <a:p>
            <a:pPr indent="-3388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55">
                <a:solidFill>
                  <a:schemeClr val="dk1"/>
                </a:solidFill>
              </a:rPr>
              <a:t>Includes a mix of numerical (float/int) and categorical (object) variables</a:t>
            </a:r>
            <a:endParaRPr sz="3655">
              <a:solidFill>
                <a:schemeClr val="dk1"/>
              </a:solidFill>
            </a:endParaRPr>
          </a:p>
          <a:p>
            <a:pPr indent="-3388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55">
                <a:solidFill>
                  <a:schemeClr val="dk1"/>
                </a:solidFill>
              </a:rPr>
              <a:t>Several</a:t>
            </a:r>
            <a:r>
              <a:rPr lang="en" sz="3655">
                <a:solidFill>
                  <a:schemeClr val="dk1"/>
                </a:solidFill>
              </a:rPr>
              <a:t> columns have missing values (see next slide)</a:t>
            </a:r>
            <a:endParaRPr sz="365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8" title="Screenshot 2026-02-24 at 4.35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50" y="1095190"/>
            <a:ext cx="7736826" cy="18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47725" y="26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2 - Missing Values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5092311" y="1079537"/>
            <a:ext cx="3816600" cy="3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Missing values were identified using summary functions to find which of the top 20 columns had the largest gaps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Results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Some features have extensive missing data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Most missing columns are tied to housing/</a:t>
            </a:r>
            <a:r>
              <a:rPr lang="en" sz="1800">
                <a:solidFill>
                  <a:schemeClr val="dk1"/>
                </a:solidFill>
              </a:rPr>
              <a:t>apartment data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25" y="1074475"/>
            <a:ext cx="4797350" cy="35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2 - Preparation Before Analysis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7806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Steps Completed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Abbreviated the data set names for simpler codes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Verified that SK_ID_CURR can be used to merge current/past records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Identified financial variables with strong skew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Reviewed data structure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★"/>
            </a:pPr>
            <a:r>
              <a:rPr lang="en" sz="2000">
                <a:solidFill>
                  <a:schemeClr val="dk1"/>
                </a:solidFill>
              </a:rPr>
              <a:t>These steps make sure the dataset is structured properly before moving into the main EDA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4294967295" type="ctrTitle"/>
          </p:nvPr>
        </p:nvSpPr>
        <p:spPr>
          <a:xfrm>
            <a:off x="1250850" y="2142000"/>
            <a:ext cx="6642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Section 3 — Univariate Analysis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37875"/>
            <a:ext cx="874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3: Target Variable &amp; Class Imbalance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38175"/>
            <a:ext cx="3775500" cy="319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target variable indicates whether an applicant experienced payment difficulties.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About </a:t>
            </a:r>
            <a:r>
              <a:rPr b="1" lang="en" sz="1500">
                <a:solidFill>
                  <a:schemeClr val="dk1"/>
                </a:solidFill>
              </a:rPr>
              <a:t>8%</a:t>
            </a:r>
            <a:r>
              <a:rPr lang="en" sz="1500">
                <a:solidFill>
                  <a:schemeClr val="dk1"/>
                </a:solidFill>
              </a:rPr>
              <a:t> of applicants defaulted, while </a:t>
            </a:r>
            <a:r>
              <a:rPr b="1" lang="en" sz="1500">
                <a:solidFill>
                  <a:schemeClr val="dk1"/>
                </a:solidFill>
              </a:rPr>
              <a:t>92%</a:t>
            </a:r>
            <a:r>
              <a:rPr lang="en" sz="1500">
                <a:solidFill>
                  <a:schemeClr val="dk1"/>
                </a:solidFill>
              </a:rPr>
              <a:t> repaid on 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strong class imbalance is typical in credit risk data and provides important context for later analysis.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4" name="Google Shape;114;p2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38174"/>
            <a:ext cx="3775500" cy="31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3: Applicant Profile Demographics &amp; Assets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4260300" cy="16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Applicant population is </a:t>
            </a:r>
            <a:r>
              <a:rPr b="1" lang="en" sz="1400">
                <a:solidFill>
                  <a:schemeClr val="dk1"/>
                </a:solidFill>
              </a:rPr>
              <a:t>gender-skewed</a:t>
            </a:r>
            <a:r>
              <a:rPr lang="en" sz="1400">
                <a:solidFill>
                  <a:schemeClr val="dk1"/>
                </a:solidFill>
              </a:rPr>
              <a:t>, with more female applicants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Most applicants report </a:t>
            </a:r>
            <a:r>
              <a:rPr b="1" lang="en" sz="1400">
                <a:solidFill>
                  <a:schemeClr val="dk1"/>
                </a:solidFill>
              </a:rPr>
              <a:t>no children</a:t>
            </a:r>
            <a:r>
              <a:rPr lang="en" sz="1400">
                <a:solidFill>
                  <a:schemeClr val="dk1"/>
                </a:solidFill>
              </a:rPr>
              <a:t>, indicating smaller households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Asset ownership varies</a:t>
            </a:r>
            <a:r>
              <a:rPr lang="en" sz="1400">
                <a:solidFill>
                  <a:schemeClr val="dk1"/>
                </a:solidFill>
              </a:rPr>
              <a:t>, reflecting heterogeneity in financial stability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21" name="Google Shape;121;p2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675" y="1152475"/>
            <a:ext cx="4049625" cy="3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433" y="2821675"/>
            <a:ext cx="3725567" cy="18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3: </a:t>
            </a:r>
            <a:r>
              <a:rPr lang="en"/>
              <a:t>Financial Characteristics &amp; Distribution Skew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12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500">
                <a:solidFill>
                  <a:schemeClr val="dk1"/>
                </a:solidFill>
              </a:rPr>
              <a:t>• Income, credit amount, and annuity exhibit strong right skew.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0">
                <a:solidFill>
                  <a:schemeClr val="dk1"/>
                </a:solidFill>
              </a:rPr>
              <a:t>• Log transformation reveals clearer distributional structure.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500">
                <a:solidFill>
                  <a:schemeClr val="dk1"/>
                </a:solidFill>
              </a:rPr>
              <a:t>• This scaling enables more meaningful comparison in later analysis.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9" name="Google Shape;129;p2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65375"/>
            <a:ext cx="8520599" cy="23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4294967295" type="ctrTitle"/>
          </p:nvPr>
        </p:nvSpPr>
        <p:spPr>
          <a:xfrm>
            <a:off x="1361850" y="2142000"/>
            <a:ext cx="6420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Section 4 — </a:t>
            </a:r>
            <a:r>
              <a:rPr lang="en" sz="4800"/>
              <a:t>Bivariate Analysis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4: Default Risk by Income Level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4476600" cy="30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Default rates are higher among lower-income applicants.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Default probability generally decreases as income increases.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However, income alone does not fully explain default behavior.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p2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300" y="1152475"/>
            <a:ext cx="3958250" cy="30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4: Default Risk by Loan Size (Credit Amount)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4476600" cy="27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Default risk varies non-linearly across loan size categories.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Mid-sized loans display relatively higher default rates.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Loan size alone is not a sufficient indicator of default risk.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8" name="Google Shape;148;p2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300" y="1182775"/>
            <a:ext cx="4050901" cy="29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4: Default Risk by Categorical &amp; Behavioral Features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017725"/>
            <a:ext cx="3796800" cy="3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</a:rPr>
              <a:t>Default rates differ across </a:t>
            </a:r>
            <a:r>
              <a:rPr b="1" lang="en" sz="1500">
                <a:solidFill>
                  <a:schemeClr val="dk1"/>
                </a:solidFill>
              </a:rPr>
              <a:t>basic applicant characteristics</a:t>
            </a:r>
            <a:r>
              <a:rPr lang="en" sz="1500">
                <a:solidFill>
                  <a:schemeClr val="dk1"/>
                </a:solidFill>
              </a:rPr>
              <a:t>, such as gender and asset ownership.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</a:rPr>
              <a:t>Applicants </a:t>
            </a:r>
            <a:r>
              <a:rPr b="1" lang="en" sz="1500">
                <a:solidFill>
                  <a:schemeClr val="dk1"/>
                </a:solidFill>
              </a:rPr>
              <a:t>without a car or real estate</a:t>
            </a:r>
            <a:r>
              <a:rPr lang="en" sz="1500">
                <a:solidFill>
                  <a:schemeClr val="dk1"/>
                </a:solidFill>
              </a:rPr>
              <a:t> tend to exhibit higher default rates.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dk1"/>
                </a:solidFill>
              </a:rPr>
              <a:t>Credit bureau request behavior shows variation in default risk, suggesting recent credit activity may contain risk signals.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5" name="Google Shape;155;p2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500" y="1017725"/>
            <a:ext cx="4730699" cy="19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8500" y="2995000"/>
            <a:ext cx="4730701" cy="18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idx="4294967295" type="ctrTitle"/>
          </p:nvPr>
        </p:nvSpPr>
        <p:spPr>
          <a:xfrm>
            <a:off x="530100" y="2177400"/>
            <a:ext cx="80838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Section 5 — </a:t>
            </a:r>
            <a:r>
              <a:rPr lang="en" sz="3600"/>
              <a:t>Segment and Interaction Analysis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52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5: Interaction Analysis: Income × Credit Amount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401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Default risk varies substantially across </a:t>
            </a:r>
            <a:r>
              <a:rPr b="1" lang="en" sz="1500">
                <a:solidFill>
                  <a:schemeClr val="dk1"/>
                </a:solidFill>
              </a:rPr>
              <a:t>income–loan size combinations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Low-income applicants with mid-to-high credit amounts</a:t>
            </a:r>
            <a:r>
              <a:rPr lang="en" sz="1500">
                <a:solidFill>
                  <a:schemeClr val="dk1"/>
                </a:solidFill>
              </a:rPr>
              <a:t> exhibit the highest default rates.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High-income segments maintain relatively low default risk even at higher loan levels.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8" name="Google Shape;168;p3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201" y="1152475"/>
            <a:ext cx="441818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5: </a:t>
            </a:r>
            <a:r>
              <a:rPr lang="en"/>
              <a:t>Historical Credit Behavior &amp; Default Risk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420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Default risk increases with the number of previous loan applications.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Applicants with higher historical refusal rates exhibit substantially higher default risk.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Behavioral history provides strong predictive signal beyond current financial characteristics.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5" name="Google Shape;175;p3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260300" cy="16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1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829300"/>
            <a:ext cx="4260300" cy="17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idx="4294967295" type="ctrTitle"/>
          </p:nvPr>
        </p:nvSpPr>
        <p:spPr>
          <a:xfrm>
            <a:off x="1183950" y="2177400"/>
            <a:ext cx="6776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Section 6 — Key Insights &amp; Conclusion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6 - </a:t>
            </a:r>
            <a:r>
              <a:rPr lang="en"/>
              <a:t>Insights</a:t>
            </a:r>
            <a:r>
              <a:rPr lang="en"/>
              <a:t> &amp; Conclusion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829">
                <a:solidFill>
                  <a:schemeClr val="dk1"/>
                </a:solidFill>
              </a:rPr>
              <a:t>What we found</a:t>
            </a:r>
            <a:r>
              <a:rPr lang="en" sz="1829">
                <a:solidFill>
                  <a:schemeClr val="dk1"/>
                </a:solidFill>
              </a:rPr>
              <a:t>:</a:t>
            </a:r>
            <a:endParaRPr sz="1829">
              <a:solidFill>
                <a:schemeClr val="dk1"/>
              </a:solidFill>
            </a:endParaRPr>
          </a:p>
          <a:p>
            <a:pPr indent="-3448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en" sz="1829">
                <a:solidFill>
                  <a:schemeClr val="dk1"/>
                </a:solidFill>
              </a:rPr>
              <a:t>Lower income → higher default rates</a:t>
            </a:r>
            <a:endParaRPr sz="1829">
              <a:solidFill>
                <a:schemeClr val="dk1"/>
              </a:solidFill>
            </a:endParaRPr>
          </a:p>
          <a:p>
            <a:pPr indent="-3448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en" sz="1829">
                <a:solidFill>
                  <a:schemeClr val="dk1"/>
                </a:solidFill>
              </a:rPr>
              <a:t>Medium-sized loans →highest risk</a:t>
            </a:r>
            <a:endParaRPr sz="1829">
              <a:solidFill>
                <a:schemeClr val="dk1"/>
              </a:solidFill>
            </a:endParaRPr>
          </a:p>
          <a:p>
            <a:pPr indent="-3448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en" sz="1829">
                <a:solidFill>
                  <a:schemeClr val="dk1"/>
                </a:solidFill>
              </a:rPr>
              <a:t>Income &amp; credit amount reveals high-risk groups</a:t>
            </a:r>
            <a:endParaRPr sz="1829">
              <a:solidFill>
                <a:schemeClr val="dk1"/>
              </a:solidFill>
            </a:endParaRPr>
          </a:p>
          <a:p>
            <a:pPr indent="-32321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Char char="○"/>
            </a:pPr>
            <a:r>
              <a:rPr b="1" lang="en" sz="1490">
                <a:solidFill>
                  <a:schemeClr val="dk1"/>
                </a:solidFill>
              </a:rPr>
              <a:t>Highest risk: low-income + medium credit amount</a:t>
            </a:r>
            <a:endParaRPr b="1" sz="1490">
              <a:solidFill>
                <a:schemeClr val="dk1"/>
              </a:solidFill>
            </a:endParaRPr>
          </a:p>
          <a:p>
            <a:pPr indent="-32321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Char char="○"/>
            </a:pPr>
            <a:r>
              <a:rPr b="1" lang="en" sz="1490">
                <a:solidFill>
                  <a:schemeClr val="dk1"/>
                </a:solidFill>
              </a:rPr>
              <a:t>Lowest risk: high income + high credit amount</a:t>
            </a:r>
            <a:endParaRPr b="1" sz="1490">
              <a:solidFill>
                <a:schemeClr val="dk1"/>
              </a:solidFill>
            </a:endParaRPr>
          </a:p>
          <a:p>
            <a:pPr indent="-3448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en" sz="1829">
                <a:solidFill>
                  <a:schemeClr val="dk1"/>
                </a:solidFill>
              </a:rPr>
              <a:t>Past refusals → strongly linked to higher default</a:t>
            </a:r>
            <a:endParaRPr sz="1829">
              <a:solidFill>
                <a:schemeClr val="dk1"/>
              </a:solidFill>
            </a:endParaRPr>
          </a:p>
          <a:p>
            <a:pPr indent="-3448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en" sz="1829">
                <a:solidFill>
                  <a:schemeClr val="dk1"/>
                </a:solidFill>
              </a:rPr>
              <a:t>Asset ownership &amp; credit checks show financial stability of applicant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829">
                <a:solidFill>
                  <a:schemeClr val="dk1"/>
                </a:solidFill>
              </a:rPr>
              <a:t>Conclusion</a:t>
            </a:r>
            <a:r>
              <a:rPr lang="en" sz="1829">
                <a:solidFill>
                  <a:schemeClr val="dk1"/>
                </a:solidFill>
              </a:rPr>
              <a:t>: 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829">
                <a:solidFill>
                  <a:schemeClr val="dk1"/>
                </a:solidFill>
              </a:rPr>
              <a:t>EDA helps identify the factors most closely related to </a:t>
            </a:r>
            <a:r>
              <a:rPr lang="en" sz="1829">
                <a:solidFill>
                  <a:schemeClr val="dk1"/>
                </a:solidFill>
              </a:rPr>
              <a:t>default</a:t>
            </a:r>
            <a:r>
              <a:rPr lang="en" sz="1829">
                <a:solidFill>
                  <a:schemeClr val="dk1"/>
                </a:solidFill>
              </a:rPr>
              <a:t> risk, ultimately giving banks and lenders a foundation for stronger models and policies. These insights help drive more reliable, data-driven decisions when reviewing applicants.</a:t>
            </a:r>
            <a:endParaRPr sz="182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idx="4294967295" type="ctrTitle"/>
          </p:nvPr>
        </p:nvSpPr>
        <p:spPr>
          <a:xfrm>
            <a:off x="3556800" y="2177400"/>
            <a:ext cx="20304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Thank You!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